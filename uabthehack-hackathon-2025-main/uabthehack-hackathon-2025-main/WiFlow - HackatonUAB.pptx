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1a4e6e02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a1a4e6e02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a1a4e6e022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a1a4e6e022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1a4e6e02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1a4e6e02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1a4e6e02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1a4e6e02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1b29b9d1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1b29b9d1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1b29b9d1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a1b29b9d1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a1a4e6e022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a1a4e6e022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7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drive.google.com/file/d/1gjje5-aFr0QgrlbiwV32Dgm1_ikypNAy/view" TargetMode="External"/><Relationship Id="rId4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8.png"/><Relationship Id="rId5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4004" l="1758" r="0" t="13083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>
            <p:ph type="ctrTitle"/>
          </p:nvPr>
        </p:nvSpPr>
        <p:spPr>
          <a:xfrm>
            <a:off x="235850" y="181421"/>
            <a:ext cx="2385900" cy="883800"/>
          </a:xfrm>
          <a:prstGeom prst="rect">
            <a:avLst/>
          </a:prstGeom>
          <a:gradFill>
            <a:gsLst>
              <a:gs pos="0">
                <a:srgbClr val="3176EE"/>
              </a:gs>
              <a:gs pos="100000">
                <a:srgbClr val="113D8A"/>
              </a:gs>
            </a:gsLst>
            <a:lin ang="5400012" scaled="0"/>
          </a:gradFill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WiFlow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4472225" y="4448925"/>
            <a:ext cx="4450800" cy="504300"/>
          </a:xfrm>
          <a:prstGeom prst="rect">
            <a:avLst/>
          </a:prstGeom>
          <a:gradFill>
            <a:gsLst>
              <a:gs pos="0">
                <a:srgbClr val="3176EE"/>
              </a:gs>
              <a:gs pos="100000">
                <a:srgbClr val="113D8A"/>
              </a:gs>
            </a:gsLst>
            <a:path path="circle">
              <a:fillToRect b="50%" l="50%" r="50%" t="50%"/>
            </a:path>
            <a:tileRect/>
          </a:gradFill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Presentat per:</a:t>
            </a:r>
            <a:r>
              <a:rPr lang="es">
                <a:solidFill>
                  <a:schemeClr val="lt1"/>
                </a:solidFill>
              </a:rPr>
              <a:t> Bal</a:t>
            </a:r>
            <a:r>
              <a:rPr lang="es">
                <a:solidFill>
                  <a:schemeClr val="lt1"/>
                </a:solidFill>
              </a:rPr>
              <a:t>sa Botín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Problema detectat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9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">
                <a:solidFill>
                  <a:schemeClr val="dk1"/>
                </a:solidFill>
              </a:rPr>
              <a:t>Anàlisi d’afluència de la xarxa</a:t>
            </a:r>
            <a:r>
              <a:rPr lang="es">
                <a:solidFill>
                  <a:schemeClr val="dk1"/>
                </a:solidFill>
              </a:rPr>
              <a:t> entre els principals edificis de la UAB.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descr="Dibujado a mano ilustración multitud de personas caminando | Vector gratuito"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8070" y="2435750"/>
            <a:ext cx="3001952" cy="199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3971" y="2435750"/>
            <a:ext cx="3556775" cy="1999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Representació de l’exercici</a:t>
            </a:r>
            <a:endParaRPr/>
          </a:p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311700" y="1152475"/>
            <a:ext cx="8520600" cy="18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Representació com a un graf dirigit.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Nodes: Edificis.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Arestes: Connexions.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1"/>
                </a:solidFill>
              </a:rPr>
              <a:t>Ponderacions: Nombre de persones que van d’un punt a </a:t>
            </a:r>
            <a:r>
              <a:rPr lang="es">
                <a:solidFill>
                  <a:schemeClr val="dk1"/>
                </a:solidFill>
              </a:rPr>
              <a:t>un altre</a:t>
            </a:r>
            <a:r>
              <a:rPr lang="es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0995" y="3084603"/>
            <a:ext cx="5042018" cy="183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061475"/>
            <a:ext cx="8520600" cy="27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">
                <a:solidFill>
                  <a:schemeClr val="dk1"/>
                </a:solidFill>
              </a:rPr>
              <a:t>Edificis principals: Facultats, Escola d’Enginyeria i Escola de Doctorat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">
                <a:solidFill>
                  <a:schemeClr val="dk1"/>
                </a:solidFill>
              </a:rPr>
              <a:t>Mostra d’anàlisi: Una setmana lectiva del campus (del 6 </a:t>
            </a:r>
            <a:r>
              <a:rPr lang="es">
                <a:solidFill>
                  <a:schemeClr val="dk1"/>
                </a:solidFill>
              </a:rPr>
              <a:t>al</a:t>
            </a:r>
            <a:r>
              <a:rPr lang="es">
                <a:solidFill>
                  <a:schemeClr val="dk1"/>
                </a:solidFill>
              </a:rPr>
              <a:t> 12 d’abril de 2025)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">
                <a:solidFill>
                  <a:schemeClr val="dk1"/>
                </a:solidFill>
              </a:rPr>
              <a:t>Camps del json: Associated_device_name, macaddr i timestamp (tret del nom de l’arxiu</a:t>
            </a:r>
            <a:r>
              <a:rPr lang="es">
                <a:solidFill>
                  <a:schemeClr val="dk1"/>
                </a:solidFill>
              </a:rPr>
              <a:t>).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" name="Google Shape;7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Dades analitzades</a:t>
            </a:r>
            <a:endParaRPr/>
          </a:p>
        </p:txBody>
      </p:sp>
      <p:pic>
        <p:nvPicPr>
          <p:cNvPr descr="Diseño vectorial de silueta de edificios: vector de stock (libre de  regalías) 1427894798 | Shutterstock" id="78" name="Google Shape;78;p16"/>
          <p:cNvPicPr preferRelativeResize="0"/>
          <p:nvPr/>
        </p:nvPicPr>
        <p:blipFill rotWithShape="1">
          <a:blip r:embed="rId3">
            <a:alphaModFix/>
          </a:blip>
          <a:srcRect b="9608" l="0" r="0" t="0"/>
          <a:stretch/>
        </p:blipFill>
        <p:spPr>
          <a:xfrm>
            <a:off x="1071375" y="3775575"/>
            <a:ext cx="1966578" cy="121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6021" y="3819325"/>
            <a:ext cx="2062103" cy="1218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lustración del concepto de análisis | Vector Premium" id="80" name="Google Shape;8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62833" y="3775575"/>
            <a:ext cx="1218325" cy="121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Vídeo demostració</a:t>
            </a:r>
            <a:endParaRPr/>
          </a:p>
        </p:txBody>
      </p:sp>
      <p:pic>
        <p:nvPicPr>
          <p:cNvPr id="86" name="Google Shape;86;p17" title="movimientosWiFlow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06263" y="1092275"/>
            <a:ext cx="5731464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600" y="805450"/>
            <a:ext cx="8292801" cy="353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4363" y="792352"/>
            <a:ext cx="7275274" cy="355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Resultats i possibles solucions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152475"/>
            <a:ext cx="5366100" cy="387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400">
                <a:solidFill>
                  <a:srgbClr val="000000"/>
                </a:solidFill>
              </a:rPr>
              <a:t>Rutes més freqüents en </a:t>
            </a:r>
            <a:r>
              <a:rPr lang="es" sz="1400">
                <a:solidFill>
                  <a:srgbClr val="000000"/>
                </a:solidFill>
              </a:rPr>
              <a:t>franges</a:t>
            </a:r>
            <a:r>
              <a:rPr lang="es" sz="1400">
                <a:solidFill>
                  <a:srgbClr val="000000"/>
                </a:solidFill>
              </a:rPr>
              <a:t> horàries concretes. 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400">
                <a:solidFill>
                  <a:srgbClr val="000000"/>
                </a:solidFill>
              </a:rPr>
              <a:t>Això ens ajuda a </a:t>
            </a:r>
            <a:r>
              <a:rPr lang="es" sz="1400">
                <a:solidFill>
                  <a:srgbClr val="000000"/>
                </a:solidFill>
              </a:rPr>
              <a:t>preveure </a:t>
            </a:r>
            <a:r>
              <a:rPr lang="es" sz="1400">
                <a:solidFill>
                  <a:srgbClr val="000000"/>
                </a:solidFill>
              </a:rPr>
              <a:t>quins routers </a:t>
            </a:r>
            <a:r>
              <a:rPr lang="es" sz="1400">
                <a:solidFill>
                  <a:srgbClr val="000000"/>
                </a:solidFill>
              </a:rPr>
              <a:t>necessiten</a:t>
            </a:r>
            <a:r>
              <a:rPr lang="es" sz="1400">
                <a:solidFill>
                  <a:srgbClr val="000000"/>
                </a:solidFill>
              </a:rPr>
              <a:t> més suport a hores concretes.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-"/>
            </a:pPr>
            <a:r>
              <a:rPr lang="es" sz="1400">
                <a:solidFill>
                  <a:srgbClr val="000000"/>
                </a:solidFill>
              </a:rPr>
              <a:t>Balancejar la càrrega millorant la capacitat dels routers que sabem que seran més utilitzats de manera dinàmica.</a:t>
            </a:r>
            <a:endParaRPr sz="1400"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-"/>
            </a:pPr>
            <a:r>
              <a:rPr lang="es" sz="1400">
                <a:solidFill>
                  <a:srgbClr val="000000"/>
                </a:solidFill>
              </a:rPr>
              <a:t>Treure patrons de comportaments dels estudiants per adaptar la infraestructura a les necessitats futures.</a:t>
            </a:r>
            <a:endParaRPr sz="1400"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-"/>
            </a:pPr>
            <a:r>
              <a:rPr lang="es" sz="1400">
                <a:solidFill>
                  <a:srgbClr val="000000"/>
                </a:solidFill>
              </a:rPr>
              <a:t>A més d’altres aplicacions: mobilitat al campus, seguretat i evacuacions, eficiència i evasió de massificacions, etc.</a:t>
            </a:r>
            <a:endParaRPr sz="1400">
              <a:solidFill>
                <a:srgbClr val="000000"/>
              </a:solidFill>
            </a:endParaRPr>
          </a:p>
        </p:txBody>
      </p:sp>
      <p:pic>
        <p:nvPicPr>
          <p:cNvPr descr="Balancear: Más de 228,416 ilustraciones y dibujos de stock con licencia  libres de regalías | Shutterstock" id="103" name="Google Shape;103;p20"/>
          <p:cNvPicPr preferRelativeResize="0"/>
          <p:nvPr/>
        </p:nvPicPr>
        <p:blipFill rotWithShape="1">
          <a:blip r:embed="rId3">
            <a:alphaModFix/>
          </a:blip>
          <a:srcRect b="16570" l="0" r="0" t="18649"/>
          <a:stretch/>
        </p:blipFill>
        <p:spPr>
          <a:xfrm>
            <a:off x="6417125" y="780948"/>
            <a:ext cx="1983250" cy="1284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17124" y="3707208"/>
            <a:ext cx="1983250" cy="13221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06525" y="2322700"/>
            <a:ext cx="2004426" cy="11274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